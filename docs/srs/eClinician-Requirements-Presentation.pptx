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613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eClinician project: a clinic management system. State that this presentation covers the use-case-driven requirements analysis: the actors, the use-case model, use-case descriptions, business rules, and the tooling/version control setup. Keep to ~10 minutes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clinics rely on paper and disconnected tools, leading to duplicate records and lost information. The vision is a single role-based system. Walk through the three pillars: unified records, role-based workflow, and data integrity enforced by business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five actors. Emphasise that actors are external roles that interact with the system, and each is tied to specific use cases. Receptionist front-desk; Doctor clinical; Pharmacist dispensing; Lab Technician testing; Administrator user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big picture: six major use cases derived from the problem statement and vision. Note which actor drives each. This is the scope of the requirements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diagram: the box is the system boundary; ovals are use cases; stick figures are actors; lines are associations. Receptionist drives patient and appointment management; Doctor drives clinical use cases and shares prescription with the Pharmacist and laboratory with the Lab Technician; Administrator owns user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two receptionist-facing use cases. For Patient Management, note the CRUD flows and the duplicate rule. For Appointment Management, highlight the scheduling-conflict rule that keeps a doctor from being double-booked.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clinical use cases. Medical records are clinician-only and always tied to a patient. Prescription management is shared: doctors issue, pharmacists dispense — a good example of two actors on one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Laboratory management again shows two actors: doctor requests, lab technician records. User management is the administrator's domain and underpins the role-based access that appears across all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rules recur across the use cases and are the backbone of data integrity: no duplicates, referential integrity, role-based access, and guarded deletion. Tie each back to specific use cases you described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version control is set up. Walk through the Git/GitHub steps. IMPORTANT: replace the placeholder URL with your real repository link before presenting, and make sure the same URL is in the SRS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analysis section and preview what comes next. Requirements analysis is complete; you will add analysis and design artifacts to this same deck for the later upload. This shows the examiner the trajectory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in one line: the requirements analysis produced a complete use-case model backed by business rules, with the project under version control and ready for the design phase.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adijahkyampeire/eClinicia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023360" cy="402336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2834640"/>
            <a:ext cx="2926080" cy="292608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eClinician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Requirements/ Design Specification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Use-Case-Driven Requirement Analysis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Hadijah Kyampeire</a:t>
            </a:r>
            <a:r>
              <a:rPr lang="en-US" sz="1500" dirty="0">
                <a:solidFill>
                  <a:srgbClr val="AF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Reg. #618990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/ Design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eClinician is a clinic management system that digitises the core workflow of a health clinic from patient registration and appointment scheduling through consultation, prescription, and laboratory testing. It replaces fragmented paper records with a single, role-based system that keeps patient information accurate, connected, and accessible to the right staff.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40680" y="1298448"/>
            <a:ext cx="3200400" cy="1060704"/>
          </a:xfrm>
          <a:prstGeom prst="roundRect">
            <a:avLst>
              <a:gd name="adj" fmla="val 7759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23560" y="15910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7007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44475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records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63640" y="17556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profile per patient across every clinical activity.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40680" y="2505456"/>
            <a:ext cx="3200400" cy="1060704"/>
          </a:xfrm>
          <a:prstGeom prst="roundRect">
            <a:avLst>
              <a:gd name="adj" fmla="val 7759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23560" y="279806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290779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2651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workflow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263640" y="29626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actor sees only the features their role requires.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40680" y="3712464"/>
            <a:ext cx="3200400" cy="1060704"/>
          </a:xfrm>
          <a:prstGeom prst="roundRect">
            <a:avLst>
              <a:gd name="adj" fmla="val 7759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623560" y="400507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11480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8587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63640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prevent duplicates and invalid deletions.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27632" y="1572768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173736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15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patients and manages appointments.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93592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35424" y="1572768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73736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Clinician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76472" y="2615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consultations, prescribes, requests labs.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01384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443216" y="1572768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73736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84264" y="2615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prescriptions and dispenses medication.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139696" y="3127248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081528" y="3328416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493008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76856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Technician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322576" y="4370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reports laboratory results.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47488" y="3127248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989320" y="3328416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3493008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4648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230368" y="4370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system users and their roles.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4076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6870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53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Patient Management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17282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update &amp; delete patient profiles.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83480" y="13258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66360" y="154076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6870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0" y="1453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Appointment Management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943600" y="17282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view, update &amp; cancel appointments.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5603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85800" y="277520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29215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2688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Medical Record Management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463040" y="29626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update consultation records; view history.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46304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83480" y="25603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166360" y="277520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292150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943600" y="2688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Prescription Management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943600" y="29626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prescriptions and dispense medication.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94360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· Pharmacist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37947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85800" y="400964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15594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3922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Laboratory Management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1463040" y="41970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tests and record &amp; view results.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463040" y="4526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· Lab Tech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983480" y="37947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5166360" y="400964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2664" y="4155948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943600" y="3922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User Management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5943600" y="41970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system users and their roles.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943600" y="4526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Use-Case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051560"/>
            <a:ext cx="2743200" cy="3566160"/>
          </a:xfrm>
          <a:prstGeom prst="rect">
            <a:avLst/>
          </a:prstGeom>
          <a:solidFill>
            <a:srgbClr val="F4FBFB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1088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eClinician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399032"/>
            <a:ext cx="2286000" cy="457200"/>
          </a:xfrm>
          <a:prstGeom prst="ellipse">
            <a:avLst/>
          </a:prstGeom>
          <a:solidFill>
            <a:srgbClr val="D6EBE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02152" y="139903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911096"/>
            <a:ext cx="2286000" cy="457200"/>
          </a:xfrm>
          <a:prstGeom prst="ellipse">
            <a:avLst/>
          </a:prstGeom>
          <a:solidFill>
            <a:srgbClr val="D6EBE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02152" y="191109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2423160"/>
            <a:ext cx="2286000" cy="457200"/>
          </a:xfrm>
          <a:prstGeom prst="ellipse">
            <a:avLst/>
          </a:prstGeom>
          <a:solidFill>
            <a:srgbClr val="D6EBE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24231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 Management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2935224"/>
            <a:ext cx="2286000" cy="457200"/>
          </a:xfrm>
          <a:prstGeom prst="ellipse">
            <a:avLst/>
          </a:prstGeom>
          <a:solidFill>
            <a:srgbClr val="D6EBE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02152" y="293522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3447288"/>
            <a:ext cx="2286000" cy="457200"/>
          </a:xfrm>
          <a:prstGeom prst="ellipse">
            <a:avLst/>
          </a:prstGeom>
          <a:solidFill>
            <a:srgbClr val="D6EBE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02152" y="344728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Management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29000" y="3959352"/>
            <a:ext cx="2286000" cy="457200"/>
          </a:xfrm>
          <a:prstGeom prst="ellipse">
            <a:avLst/>
          </a:prstGeom>
          <a:solidFill>
            <a:srgbClr val="D6EBE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02152" y="395935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9536" y="1234440"/>
            <a:ext cx="201168" cy="20116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0120" y="1435608"/>
            <a:ext cx="0" cy="292608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" y="1536192"/>
            <a:ext cx="329184" cy="0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822960" y="172821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0120" y="172821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16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9536" y="3611880"/>
            <a:ext cx="201168" cy="20116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3813048"/>
            <a:ext cx="0" cy="292608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5528" y="3913632"/>
            <a:ext cx="329184" cy="0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822960" y="410565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0120" y="410565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" y="4343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83296" y="1417320"/>
            <a:ext cx="201168" cy="20116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83880" y="1618488"/>
            <a:ext cx="0" cy="292608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19288" y="1719072"/>
            <a:ext cx="329184" cy="0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8046720" y="191109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83880" y="191109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6092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Clinician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83296" y="2788920"/>
            <a:ext cx="201168" cy="20116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83880" y="2990088"/>
            <a:ext cx="0" cy="292608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19288" y="3090672"/>
            <a:ext cx="329184" cy="0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8046720" y="328269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83880" y="328269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6092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83296" y="3794760"/>
            <a:ext cx="201168" cy="20116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183880" y="3995928"/>
            <a:ext cx="0" cy="292608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019288" y="4096512"/>
            <a:ext cx="329184" cy="0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V="1">
            <a:off x="8046720" y="428853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183880" y="4288536"/>
            <a:ext cx="137160" cy="219456"/>
          </a:xfrm>
          <a:prstGeom prst="line">
            <a:avLst/>
          </a:prstGeom>
          <a:noFill/>
          <a:ln w="19050">
            <a:solidFill>
              <a:srgbClr val="023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60920" y="4526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Technician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143000" y="1536192"/>
            <a:ext cx="2286000" cy="91440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143000" y="1581912"/>
            <a:ext cx="2286000" cy="557784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43000" y="3913632"/>
            <a:ext cx="2286000" cy="274320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flipV="1">
            <a:off x="5715000" y="1719072"/>
            <a:ext cx="2286000" cy="932688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flipV="1">
            <a:off x="5715000" y="1764792"/>
            <a:ext cx="2286000" cy="1399032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 flipV="1">
            <a:off x="5715000" y="1810512"/>
            <a:ext cx="2286000" cy="1865376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 flipV="1">
            <a:off x="5715000" y="3090672"/>
            <a:ext cx="2286000" cy="73152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715000" y="3675888"/>
            <a:ext cx="2286000" cy="420624"/>
          </a:xfrm>
          <a:prstGeom prst="line">
            <a:avLst/>
          </a:prstGeom>
          <a:noFill/>
          <a:ln w="12700">
            <a:solidFill>
              <a:srgbClr val="5B7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DESCRIPTIONS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&amp; Appointment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93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465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09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3560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Receptionist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patient profile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view patient profile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patient profile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patient profile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 </a:t>
            </a:r>
            <a:r>
              <a:rPr lang="en-US" sz="105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patients — a unique patient is identified by patient ID, phone, or national ID / passport number.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92040" y="16093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4650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1609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Management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9612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Receptionist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2304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37760" y="2560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appointment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appointment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appointment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 </a:t>
            </a:r>
            <a:r>
              <a:rPr lang="en-US" sz="105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cannot have two appointments at the same date and time; no duplicate patient appointments.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DESCRIPTIONS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Record &amp; Prescription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93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465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09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3560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Doctor / Clinician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consultation record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medical history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consultation record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 </a:t>
            </a:r>
            <a:r>
              <a:rPr lang="en-US" sz="105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clinicians create or update records; every record links to an existing patient.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92040" y="16093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4650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1609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9612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Doctor · Pharmacist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2304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37760" y="2560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prescription (doctor)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prescription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 medication (pharmacist)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 </a:t>
            </a:r>
            <a:r>
              <a:rPr lang="en-US" sz="105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doctors issue prescriptions; only pharmacists mark them dispensed. Links to patient &amp; consultation.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DESCRIPTIONS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&amp; User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93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465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09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3560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Doctor · Lab Technician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laboratory request (doctor)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laboratory request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results (lab tech)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laboratory results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 </a:t>
            </a:r>
            <a:r>
              <a:rPr lang="en-US" sz="105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must link to a request; only lab technicians record results; doctors view their patients' results.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92040" y="16093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4650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1609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9612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Administrator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2304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37760" y="2560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user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 deactivate user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 </a:t>
            </a:r>
            <a:r>
              <a:rPr lang="en-US" sz="105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accounts; email / username must be unique; users access only role-permitted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172821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910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9568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appointments, and users/staff are each uniquely identified and cannot be duplicated.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83480" y="137160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39512" y="172821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8928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0760" y="15910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080760" y="19568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prescriptions, and lab results must link to existing patients and requests.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999232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58952" y="33558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35204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218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358444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actor can only perform the actions permitted by their role.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983480" y="2999232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9F4F5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239512" y="33558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104" y="35204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80760" y="3218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deletion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080760" y="358444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can't be deleted while it is still linked to appointments or records.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with Git &amp; GitHub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Installed, setup and used Git and </a:t>
            </a:r>
            <a:r>
              <a:rPr lang="en-US" sz="1450" dirty="0" err="1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4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create a repository, bootstrapped the application folders.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F2A30"/>
                </a:solidFill>
                <a:latin typeface="Calibri" pitchFamily="34" charset="0"/>
                <a:cs typeface="Calibri" pitchFamily="34" charset="-120"/>
              </a:rPr>
              <a:t>I add a docs folder where I will keep all these documents related to the project.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1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6577" y="2880360"/>
            <a:ext cx="3515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https://</a:t>
            </a:r>
            <a:r>
              <a:rPr lang="en-US" sz="10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github.com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/</a:t>
            </a:r>
            <a:r>
              <a:rPr lang="en-US" sz="10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hadijahkyampeire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/</a:t>
            </a:r>
            <a:r>
              <a:rPr lang="en-US" sz="10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eClinician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3355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E9F4F5"/>
          </a:solidFill>
          <a:ln w="12700">
            <a:solidFill>
              <a:srgbClr val="9CC4C9"/>
            </a:solidFill>
            <a:prstDash val="solid"/>
          </a:ln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17373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292608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actors, use-case model, use-case descriptions &amp; business rules.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734056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56432" y="14630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12464" y="17373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12464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12464" y="233172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Model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12464" y="292608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into analysis classes, robustness diagrams &amp; sequence flows.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34056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09944" y="14630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CC4C9"/>
            </a:solidFill>
            <a:prstDash val="solid"/>
          </a:ln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665976" y="17373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023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665976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665976" y="233172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Model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665976" y="292608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class diagram, architecture, and database schema.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840480" cy="3840480"/>
          </a:xfrm>
          <a:prstGeom prst="ellipse">
            <a:avLst/>
          </a:prstGeom>
          <a:solidFill>
            <a:srgbClr val="028090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1280160"/>
            <a:ext cx="3291840" cy="329184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206240" y="141732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A896"/>
          </a:solidFill>
          <a:ln/>
          <a:effectLst>
            <a:outerShdw blurRad="88900" dist="38100" dir="5400000" algn="bl" rotWithShape="0">
              <a:srgbClr val="0A2A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5819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eClinician — Use-Case-Driven Requirements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Hadijah Kyampeire  •  Reg. #618990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1231</Words>
  <Application>Microsoft Macintosh PowerPoint</Application>
  <PresentationFormat>On-screen Show (16:9)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eClinician — System Requirements Specification</dc:title>
  <dc:subject>PptxGenJS Presentation</dc:subject>
  <dc:creator>Hildebrand Mgani</dc:creator>
  <cp:lastModifiedBy>Hadijah Kyampeire</cp:lastModifiedBy>
  <cp:revision>3</cp:revision>
  <dcterms:created xsi:type="dcterms:W3CDTF">2026-07-04T23:00:34Z</dcterms:created>
  <dcterms:modified xsi:type="dcterms:W3CDTF">2026-07-05T00:58:39Z</dcterms:modified>
</cp:coreProperties>
</file>